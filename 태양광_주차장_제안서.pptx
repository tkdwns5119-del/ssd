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371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C107"/>
                </a:solidFill>
              </a:rPr>
              <a:t>태양광 주차장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지속가능한 미래를 위한 스마트 에너지 솔루션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3474720"/>
            <a:ext cx="2651760" cy="5029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349300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376C"/>
                </a:solidFill>
              </a:rPr>
              <a:t>사업 제안서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6692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2026년 3월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목   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C107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17319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</a:rPr>
              <a:t>사업 배경 및 필요성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28016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C107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417319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</a:rPr>
              <a:t>태양광 주차장 개요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31720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C107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231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</a:rPr>
              <a:t>기대 효과 및 경제성 분석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28600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331720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C107"/>
                </a:solidFill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4231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</a:rPr>
              <a:t>설치 계획 및 일정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9184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337560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C107"/>
                </a:solidFill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4290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</a:rPr>
              <a:t>환경적 기여 &amp; ESG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29184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337560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C107"/>
                </a:solidFill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</a:rPr>
              <a:t>투자 및 수익 모델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9768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343400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C107"/>
                </a:solidFill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4348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</a:rPr>
              <a:t>결론 및 제안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01  사업 배경 및 필요성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651760" cy="3200400"/>
          </a:xfrm>
          <a:prstGeom prst="rect">
            <a:avLst/>
          </a:prstGeom>
          <a:solidFill>
            <a:srgbClr val="F5F5F5"/>
          </a:solidFill>
          <a:ln w="6350">
            <a:solidFill>
              <a:srgbClr val="1A3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6C"/>
                </a:solidFill>
              </a:rPr>
              <a:t>🌡️ 기후위기 심화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402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탄소중립 2050 목표 달성을 위해
재생에너지 전환 필수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651760" cy="3200400"/>
          </a:xfrm>
          <a:prstGeom prst="rect">
            <a:avLst/>
          </a:prstGeom>
          <a:solidFill>
            <a:srgbClr val="F5F5F5"/>
          </a:solidFill>
          <a:ln w="6350">
            <a:solidFill>
              <a:srgbClr val="1A3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5087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6C"/>
                </a:solidFill>
              </a:rPr>
              <a:t>⚡ 에너지 비용 상승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2402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전기요금 지속 인상으로
자가발전 수요 급증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2651760" cy="3200400"/>
          </a:xfrm>
          <a:prstGeom prst="rect">
            <a:avLst/>
          </a:prstGeom>
          <a:solidFill>
            <a:srgbClr val="F5F5F5"/>
          </a:solidFill>
          <a:ln w="6350">
            <a:solidFill>
              <a:srgbClr val="1A3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087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6C"/>
                </a:solidFill>
              </a:rPr>
              <a:t>🚗 주차 공간 활용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2402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유휴 주차장 부지를
에너지 생산 공간으로 전환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371600"/>
            <a:ext cx="2651760" cy="3200400"/>
          </a:xfrm>
          <a:prstGeom prst="rect">
            <a:avLst/>
          </a:prstGeom>
          <a:solidFill>
            <a:srgbClr val="F5F5F5"/>
          </a:solidFill>
          <a:ln w="6350">
            <a:solidFill>
              <a:srgbClr val="1A3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15087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6C"/>
                </a:solidFill>
              </a:rPr>
              <a:t>📋 정부 지원 확대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2402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태양광 설비 보조금·
REC 제도 적극 운영 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46320"/>
            <a:ext cx="11430000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91947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6C"/>
                </a:solidFill>
              </a:rPr>
              <a:t>✔  태양광 주차장은 공간 효율성 + 친환경 에너지 생산의 두 마리 토끼를 동시에 잡는 솔루션입니다.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 태양광 주차장 개요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30352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76C"/>
                </a:solidFill>
              </a:rPr>
              <a:t>태양광 주차장이란?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212121"/>
                </a:solidFill>
              </a:rPr>
              <a:t>• 주차장 지붕·캐노피에 태양광 패널 설치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212121"/>
                </a:solidFill>
              </a:rPr>
              <a:t>• 발전된 전력을 건물·전기차 충전에 활용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212121"/>
                </a:solidFill>
              </a:rPr>
              <a:t>• 잉여 전력은 한전에 판매(전력 판매 수익)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212121"/>
                </a:solidFill>
              </a:rPr>
              <a:t>• 주차 차량 보호 + 에너지 생산 이중 효과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212121"/>
                </a:solidFill>
              </a:rPr>
              <a:t>• 지상형 / 지하 외부형 / 옥상형 다양한 형태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188720"/>
            <a:ext cx="5943600" cy="53035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32588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107"/>
                </a:solidFill>
              </a:rPr>
              <a:t>주요 사양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011680"/>
            <a:ext cx="5669280" cy="548640"/>
          </a:xfrm>
          <a:prstGeom prst="rect">
            <a:avLst/>
          </a:prstGeom>
          <a:solidFill>
            <a:srgbClr val="2A4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208483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</a:rPr>
              <a:t>패널 용량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8483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400W ~ 550W / 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670048"/>
            <a:ext cx="5669280" cy="548640"/>
          </a:xfrm>
          <a:prstGeom prst="rect">
            <a:avLst/>
          </a:prstGeom>
          <a:solidFill>
            <a:srgbClr val="2A4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7432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</a:rPr>
              <a:t>시스템 용량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7432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100kW ~ 1MW (규모 조정 가능)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3328416"/>
            <a:ext cx="5669280" cy="548640"/>
          </a:xfrm>
          <a:prstGeom prst="rect">
            <a:avLst/>
          </a:prstGeom>
          <a:solidFill>
            <a:srgbClr val="2A4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34015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</a:rPr>
              <a:t>연간 발전량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4015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약 130,000 kWh (100kW 기준)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3986784"/>
            <a:ext cx="5669280" cy="548640"/>
          </a:xfrm>
          <a:prstGeom prst="rect">
            <a:avLst/>
          </a:prstGeom>
          <a:solidFill>
            <a:srgbClr val="2A4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405993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</a:rPr>
              <a:t>패널 수명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05993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25년 이상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4645152"/>
            <a:ext cx="5669280" cy="548640"/>
          </a:xfrm>
          <a:prstGeom prst="rect">
            <a:avLst/>
          </a:prstGeom>
          <a:solidFill>
            <a:srgbClr val="2A4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471830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</a:rPr>
              <a:t>설치 면적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718304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주차면당 약 15~20㎡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5303520"/>
            <a:ext cx="5669280" cy="548640"/>
          </a:xfrm>
          <a:prstGeom prst="rect">
            <a:avLst/>
          </a:prstGeom>
          <a:solidFill>
            <a:srgbClr val="2A4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53766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</a:rPr>
              <a:t>EV 충전기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37667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완속/급속 동시 연계 가능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  기대 효과 및 경제성 분석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743200" cy="16459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34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C107"/>
                </a:solidFill>
              </a:rPr>
              <a:t>연간 발전량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459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130,000 kWh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286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100kW 시스템 기준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188720"/>
            <a:ext cx="2743200" cy="16459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234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C107"/>
                </a:solidFill>
              </a:rPr>
              <a:t>연간 절감액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6459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약 2,300만원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286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전기요금 절감 기준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188720"/>
            <a:ext cx="2743200" cy="16459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234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C107"/>
                </a:solidFill>
              </a:rPr>
              <a:t>REC 판매수익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6459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약 500만원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286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신재생에너지 공급인증서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188720"/>
            <a:ext cx="2743200" cy="16459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1234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C107"/>
                </a:solidFill>
              </a:rPr>
              <a:t>투자회수기간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16459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5~7년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286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정부보조금 반영 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017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</a:rPr>
              <a:t>비용 구조 분석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520440"/>
            <a:ext cx="11612880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5478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항목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547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금액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354787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비고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959352"/>
            <a:ext cx="116128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9867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태양광 패널 (100kW)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398678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약 1억 2천만원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398678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패널 + 인버터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398264"/>
            <a:ext cx="1161288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4256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구조물 (캐노피)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42569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약 6천만원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442569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철골 + 도장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837176"/>
            <a:ext cx="116128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48646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EV 충전기 (4기)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48646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약 2천만원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48646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완속 기준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276088"/>
            <a:ext cx="1161288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공사 및 설치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303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약 2천만원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5303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전기공사 포함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5715000"/>
            <a:ext cx="11612880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57424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합계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57424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약 2억 2천만원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57424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정부보조금 최대 50% 지원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 설치 계획 및 일정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1720" y="1920240"/>
            <a:ext cx="320040" cy="2743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103120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344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107"/>
                </a:solidFill>
              </a:rPr>
              <a:t>1단계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002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사전 조사
및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286000"/>
            <a:ext cx="2103120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331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76C"/>
                </a:solidFill>
              </a:rPr>
              <a:t>⏱ 1~2개월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834640"/>
            <a:ext cx="210312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92608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현장 조사
구조 검토
인허가 준비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1920240"/>
            <a:ext cx="320040" cy="2743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1188720"/>
            <a:ext cx="2103120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12344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107"/>
                </a:solidFill>
              </a:rPr>
              <a:t>2단계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16002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인허가
취득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2286000"/>
            <a:ext cx="2103120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1760" y="2331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76C"/>
                </a:solidFill>
              </a:rPr>
              <a:t>⏱ 2~3개월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2834640"/>
            <a:ext cx="210312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292608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전기사업허가
건축신고
환경영향평가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600" y="1920240"/>
            <a:ext cx="320040" cy="2743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0" y="1188720"/>
            <a:ext cx="2103120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12344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107"/>
                </a:solidFill>
              </a:rPr>
              <a:t>3단계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16002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구조물
설치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2286000"/>
            <a:ext cx="2103120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2331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76C"/>
                </a:solidFill>
              </a:rPr>
              <a:t>⏱ 1~2개월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2834640"/>
            <a:ext cx="210312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0" y="292608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캐노피 시공
배선 작업
패널 설치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64040" y="1920240"/>
            <a:ext cx="320040" cy="2743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06640" y="1188720"/>
            <a:ext cx="2103120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12344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107"/>
                </a:solidFill>
              </a:rPr>
              <a:t>4단계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16002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계통
연계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2286000"/>
            <a:ext cx="2103120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0" y="2331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76C"/>
                </a:solidFill>
              </a:rPr>
              <a:t>⏱ 1개월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0" y="2834640"/>
            <a:ext cx="210312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0" y="292608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한전 연계
인버터 설치
시운전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84080" y="1188720"/>
            <a:ext cx="2103120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0" y="12344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107"/>
                </a:solidFill>
              </a:rPr>
              <a:t>5단계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16002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운영
시작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84080" y="2286000"/>
            <a:ext cx="2103120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84080" y="2331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76C"/>
                </a:solidFill>
              </a:rPr>
              <a:t>⏱ 상시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84080" y="2834640"/>
            <a:ext cx="210312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75520" y="292608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모니터링
유지보수
성과 분석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0" y="48920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376C"/>
                </a:solidFill>
              </a:rPr>
              <a:t>총 프로젝트 기간: 약 7~8개월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5394960"/>
            <a:ext cx="1188720" cy="457200"/>
          </a:xfrm>
          <a:prstGeom prst="rect">
            <a:avLst/>
          </a:prstGeom>
          <a:solidFill>
            <a:srgbClr val="1A376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54406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03120" y="5394960"/>
            <a:ext cx="1188720" cy="457200"/>
          </a:xfrm>
          <a:prstGeom prst="rect">
            <a:avLst/>
          </a:prstGeom>
          <a:solidFill>
            <a:srgbClr val="1A376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0" y="54406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0" y="5394960"/>
            <a:ext cx="1188720" cy="457200"/>
          </a:xfrm>
          <a:prstGeom prst="rect">
            <a:avLst/>
          </a:prstGeom>
          <a:solidFill>
            <a:srgbClr val="1A376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74720" y="54406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3월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46320" y="5394960"/>
            <a:ext cx="1188720" cy="457200"/>
          </a:xfrm>
          <a:prstGeom prst="rect">
            <a:avLst/>
          </a:prstGeom>
          <a:solidFill>
            <a:srgbClr val="1A376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46320" y="54406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4월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5394960"/>
            <a:ext cx="1188720" cy="457200"/>
          </a:xfrm>
          <a:prstGeom prst="rect">
            <a:avLst/>
          </a:prstGeom>
          <a:solidFill>
            <a:srgbClr val="1A376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17920" y="54406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5월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89520" y="5394960"/>
            <a:ext cx="1188720" cy="457200"/>
          </a:xfrm>
          <a:prstGeom prst="rect">
            <a:avLst/>
          </a:prstGeom>
          <a:solidFill>
            <a:srgbClr val="1A376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89520" y="54406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6월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961120" y="5394960"/>
            <a:ext cx="1188720" cy="457200"/>
          </a:xfrm>
          <a:prstGeom prst="rect">
            <a:avLst/>
          </a:prstGeom>
          <a:solidFill>
            <a:srgbClr val="1A376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61120" y="54406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7월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332720" y="5394960"/>
            <a:ext cx="118872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332720" y="54406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8월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  환경적 기여 &amp; ESG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474720" cy="9144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E
환경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347472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00">
                <a:solidFill>
                  <a:srgbClr val="212121"/>
                </a:solidFill>
              </a:rPr>
              <a:t>✓  연간 CO₂ 약 58톤 감축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212121"/>
                </a:solidFill>
              </a:rPr>
              <a:t>✓  (30년생 소나무 8,700그루 효과)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212121"/>
                </a:solidFill>
              </a:rPr>
              <a:t>✓  화석연료 의존도 감소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212121"/>
                </a:solidFill>
              </a:rPr>
              <a:t>✓  미세먼지 저감 기여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474720" cy="9144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2344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S
사회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194560"/>
            <a:ext cx="347472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33172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00">
                <a:solidFill>
                  <a:srgbClr val="212121"/>
                </a:solidFill>
              </a:rPr>
              <a:t>✓  지역 일자리 창출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212121"/>
                </a:solidFill>
              </a:rPr>
              <a:t>✓  에너지 복지 향상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212121"/>
                </a:solidFill>
              </a:rPr>
              <a:t>✓  전기차 인프라 확충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212121"/>
                </a:solidFill>
              </a:rPr>
              <a:t>✓  시민 환경 인식 제고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474720" cy="9144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2344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G
거버넌스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194560"/>
            <a:ext cx="347472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33172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00">
                <a:solidFill>
                  <a:srgbClr val="212121"/>
                </a:solidFill>
              </a:rPr>
              <a:t>✓  탄소중립 경영 선언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212121"/>
                </a:solidFill>
              </a:rPr>
              <a:t>✓  RE100 목표 달성 기여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212121"/>
                </a:solidFill>
              </a:rPr>
              <a:t>✓  ESG 공시 의무 대응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212121"/>
                </a:solidFill>
              </a:rPr>
              <a:t>✓  지속가능경영보고서 실적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  투자 및 수익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</a:rPr>
              <a:t>수익 흐름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37360"/>
            <a:ext cx="11430000" cy="594360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54864" cy="5943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</a:rPr>
              <a:t>전력 판매 수익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828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A745"/>
                </a:solidFill>
              </a:rPr>
              <a:t>연간 약 1,400만원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8288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</a:rPr>
              <a:t>한전 계통 연계 판매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395728"/>
            <a:ext cx="1143000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395728"/>
            <a:ext cx="54864" cy="5943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48716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</a:rPr>
              <a:t>전기요금 절감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4871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A745"/>
                </a:solidFill>
              </a:rPr>
              <a:t>연간 약 1,300만원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48716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</a:rPr>
              <a:t>자가소비분 절감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54096"/>
            <a:ext cx="11430000" cy="594360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054096"/>
            <a:ext cx="54864" cy="5943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14553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</a:rPr>
              <a:t>REC 판매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14553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A745"/>
                </a:solidFill>
              </a:rPr>
              <a:t>연간 약 500만원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3145536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</a:rPr>
              <a:t>신재생 공급인증서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712464"/>
            <a:ext cx="1143000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712464"/>
            <a:ext cx="54864" cy="5943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803904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</a:rPr>
              <a:t>EV 충전 수익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80390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A745"/>
                </a:solidFill>
              </a:rPr>
              <a:t>연간 약 600만원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3803904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</a:rPr>
              <a:t>충전 서비스 이용료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370831"/>
            <a:ext cx="11430000" cy="594360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4370831"/>
            <a:ext cx="54864" cy="5943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462271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</a:rPr>
              <a:t>주차장 프리미엄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4462271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A745"/>
                </a:solidFill>
              </a:rPr>
              <a:t>연간 약 300만원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4462271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</a:rPr>
              <a:t>서비스 가치 향상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120640"/>
            <a:ext cx="11430000" cy="6400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18464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연간 총 예상 수익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518464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107"/>
                </a:solidFill>
              </a:rPr>
              <a:t>약 4,100만원 / 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52303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※ 정부 보조금·세제혜택 별도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1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2188952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657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C107"/>
                </a:solidFill>
              </a:rPr>
              <a:t>결론 및 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태양광 주차장은 단순한 발전 시설이 아닙니다.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CDDFF"/>
                </a:solidFill>
              </a:rPr>
              <a:t>탄소중립 실현 · 에너지 자립 · 수익 창출을 동시에 달성하는
미래 지향적 인프라 투자입니다.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651760"/>
            <a:ext cx="8229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</a:rPr>
              <a:t>✅  투자 회수 기간 5~7년 (정부 보조금 적용 시)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</a:rPr>
              <a:t>✅  연간 약 4,100만원 수익 창출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</a:rPr>
              <a:t>✅  CO₂ 연간 58톤 감축으로 ESG 경영 강화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</a:rPr>
              <a:t>✅  EV 충전 인프라 선제 구축으로 미래 경쟁력 확보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16636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C107"/>
                </a:solidFill>
              </a:rPr>
              <a:t>지금 바로 시작하세요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85216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BBCC"/>
                </a:solidFill>
              </a:rPr>
              <a:t>문의 및 협의: solar@company.com  |  Tel. 02-0000-0000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